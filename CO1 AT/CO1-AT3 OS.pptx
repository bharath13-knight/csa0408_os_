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23594C5-DE9B-4600-BDFE-A22A94546CAA}">
  <a:tblStyle styleId="{F23594C5-DE9B-4600-BDFE-A22A94546CA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Introduce the topic: the OS is the manager of CPU, memory and I/O in a modern computer.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State the problem clearly: resource sharing among competing processes.</a:t>
            </a:r>
            <a:endParaRPr/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" name="Google Shape;3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Importance: efficiency, fairness, protection and convenience.</a:t>
            </a:r>
            <a:endParaRPr/>
          </a:p>
        </p:txBody>
      </p:sp>
      <p:sp>
        <p:nvSpPr>
          <p:cNvPr id="39" name="Google Shape;3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Walk through the five-state process model.</a:t>
            </a:r>
            <a:endParaRPr/>
          </a:p>
        </p:txBody>
      </p:sp>
      <p:sp>
        <p:nvSpPr>
          <p:cNvPr id="66" name="Google Shape;6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Show the layered path from application down to hardware.</a:t>
            </a:r>
            <a:endParaRPr/>
          </a:p>
        </p:txBody>
      </p:sp>
      <p:sp>
        <p:nvSpPr>
          <p:cNvPr id="89" name="Google Shape;8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Use an example: a process reading a file touches all three components.</a:t>
            </a:r>
            <a:endParaRPr/>
          </a:p>
        </p:txBody>
      </p:sp>
      <p:sp>
        <p:nvSpPr>
          <p:cNvPr id="122" name="Google Shape;12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Each function reaches the kernel only through a system call.</a:t>
            </a:r>
            <a:endParaRPr/>
          </a:p>
        </p:txBody>
      </p:sp>
      <p:sp>
        <p:nvSpPr>
          <p:cNvPr id="144" name="Google Shape;14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2" name="Google Shape;15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h332e70c2a6e71013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h332e70c2a6e71013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h332e70c2a6e71013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/>
        </p:nvSpPr>
        <p:spPr>
          <a:xfrm>
            <a:off x="640080" y="731520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CSA04 · OPERATING SYSTEMS · CO1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 txBox="1"/>
          <p:nvPr/>
        </p:nvSpPr>
        <p:spPr>
          <a:xfrm>
            <a:off x="640080" y="1280160"/>
            <a:ext cx="786384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How an Operating System Manages Processes, Memory and I/O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 txBox="1"/>
          <p:nvPr/>
        </p:nvSpPr>
        <p:spPr>
          <a:xfrm>
            <a:off x="640080" y="3200400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Technical Presentation · Assessment Tool 3 · Question 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 txBox="1"/>
          <p:nvPr/>
        </p:nvSpPr>
        <p:spPr>
          <a:xfrm>
            <a:off x="640075" y="3840467"/>
            <a:ext cx="7863900" cy="9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SIMATS Engineering  </a:t>
            </a:r>
            <a:endParaRPr b="0" i="0" sz="1400" u="none" cap="none" strike="noStrike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Name: J Bharath</a:t>
            </a:r>
            <a:endParaRPr b="0" i="0" sz="1400" u="none" cap="none" strike="noStrike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Reg No: 192511234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The Problem We Are Solving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 txBox="1"/>
          <p:nvPr/>
        </p:nvSpPr>
        <p:spPr>
          <a:xfrm>
            <a:off x="8229600" y="470916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 txBox="1"/>
          <p:nvPr/>
        </p:nvSpPr>
        <p:spPr>
          <a:xfrm>
            <a:off x="548640" y="1097280"/>
            <a:ext cx="47548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 modern computer runs many programs at once but has only limited CPU, memory and devices. Without an OS, programs would clash, crash each other, and waste hardware.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 txBox="1"/>
          <p:nvPr/>
        </p:nvSpPr>
        <p:spPr>
          <a:xfrm>
            <a:off x="548640" y="265176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The OS must decide: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 txBox="1"/>
          <p:nvPr/>
        </p:nvSpPr>
        <p:spPr>
          <a:xfrm>
            <a:off x="548640" y="3063240"/>
            <a:ext cx="47548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Which process gets the CPU next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F2937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Where each program lives in memory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F2937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How devices are shared safely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5852160" y="1188720"/>
            <a:ext cx="2743200" cy="914400"/>
          </a:xfrm>
          <a:prstGeom prst="roundRect">
            <a:avLst>
              <a:gd fmla="val 10000" name="adj"/>
            </a:avLst>
          </a:prstGeom>
          <a:solidFill>
            <a:srgbClr val="0B1F3A"/>
          </a:solidFill>
          <a:ln cap="flat" cmpd="sng" w="12700">
            <a:solidFill>
              <a:srgbClr val="0B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4"/>
          <p:cNvSpPr txBox="1"/>
          <p:nvPr/>
        </p:nvSpPr>
        <p:spPr>
          <a:xfrm>
            <a:off x="5852160" y="1188720"/>
            <a:ext cx="2743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Scheduling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CPU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5852160" y="2331720"/>
            <a:ext cx="2743200" cy="914400"/>
          </a:xfrm>
          <a:prstGeom prst="roundRect">
            <a:avLst>
              <a:gd fmla="val 10000" name="adj"/>
            </a:avLst>
          </a:prstGeom>
          <a:solidFill>
            <a:srgbClr val="0F766E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4"/>
          <p:cNvSpPr txBox="1"/>
          <p:nvPr/>
        </p:nvSpPr>
        <p:spPr>
          <a:xfrm>
            <a:off x="5852160" y="2331720"/>
            <a:ext cx="2743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Allocation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Memory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5852160" y="3474720"/>
            <a:ext cx="2743200" cy="914400"/>
          </a:xfrm>
          <a:prstGeom prst="roundRect">
            <a:avLst>
              <a:gd fmla="val 10000" name="adj"/>
            </a:avLst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4"/>
          <p:cNvSpPr txBox="1"/>
          <p:nvPr/>
        </p:nvSpPr>
        <p:spPr>
          <a:xfrm>
            <a:off x="5852160" y="3474720"/>
            <a:ext cx="2743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I/O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Devices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Key OS Functions and Why They Matter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5"/>
          <p:cNvSpPr txBox="1"/>
          <p:nvPr/>
        </p:nvSpPr>
        <p:spPr>
          <a:xfrm>
            <a:off x="8229600" y="470916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5"/>
          <p:cNvSpPr/>
          <p:nvPr/>
        </p:nvSpPr>
        <p:spPr>
          <a:xfrm>
            <a:off x="548640" y="1188720"/>
            <a:ext cx="3931920" cy="160020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731520" y="1371600"/>
            <a:ext cx="457200" cy="457200"/>
          </a:xfrm>
          <a:prstGeom prst="ellipse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5"/>
          <p:cNvSpPr txBox="1"/>
          <p:nvPr/>
        </p:nvSpPr>
        <p:spPr>
          <a:xfrm>
            <a:off x="731520" y="1371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5"/>
          <p:cNvSpPr txBox="1"/>
          <p:nvPr/>
        </p:nvSpPr>
        <p:spPr>
          <a:xfrm>
            <a:off x="1325880" y="13716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Process Scheduling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 txBox="1"/>
          <p:nvPr/>
        </p:nvSpPr>
        <p:spPr>
          <a:xfrm>
            <a:off x="731520" y="1965960"/>
            <a:ext cx="3566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Shares the CPU fairly and keeps it busy; gives multitasking.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4663440" y="1188720"/>
            <a:ext cx="3931920" cy="160020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4846320" y="1371600"/>
            <a:ext cx="457200" cy="457200"/>
          </a:xfrm>
          <a:prstGeom prst="ellipse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5"/>
          <p:cNvSpPr txBox="1"/>
          <p:nvPr/>
        </p:nvSpPr>
        <p:spPr>
          <a:xfrm>
            <a:off x="4846320" y="1371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 txBox="1"/>
          <p:nvPr/>
        </p:nvSpPr>
        <p:spPr>
          <a:xfrm>
            <a:off x="5440680" y="13716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Memory Management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 txBox="1"/>
          <p:nvPr/>
        </p:nvSpPr>
        <p:spPr>
          <a:xfrm>
            <a:off x="4846320" y="1965960"/>
            <a:ext cx="3566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Allocates RAM, isolates programs, provides virtual memory.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548640" y="2971800"/>
            <a:ext cx="3931920" cy="160020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731520" y="3154680"/>
            <a:ext cx="457200" cy="457200"/>
          </a:xfrm>
          <a:prstGeom prst="ellipse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5"/>
          <p:cNvSpPr txBox="1"/>
          <p:nvPr/>
        </p:nvSpPr>
        <p:spPr>
          <a:xfrm>
            <a:off x="731520" y="31546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 txBox="1"/>
          <p:nvPr/>
        </p:nvSpPr>
        <p:spPr>
          <a:xfrm>
            <a:off x="1325880" y="315468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I/O Management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 txBox="1"/>
          <p:nvPr/>
        </p:nvSpPr>
        <p:spPr>
          <a:xfrm>
            <a:off x="731520" y="3749040"/>
            <a:ext cx="3566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Controls devices via drivers, buffering and interrupts.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4663440" y="2971800"/>
            <a:ext cx="3931920" cy="160020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4846320" y="3154680"/>
            <a:ext cx="457200" cy="457200"/>
          </a:xfrm>
          <a:prstGeom prst="ellipse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5"/>
          <p:cNvSpPr txBox="1"/>
          <p:nvPr/>
        </p:nvSpPr>
        <p:spPr>
          <a:xfrm>
            <a:off x="4846320" y="31546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 txBox="1"/>
          <p:nvPr/>
        </p:nvSpPr>
        <p:spPr>
          <a:xfrm>
            <a:off x="5440680" y="315468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File &amp; Protection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 txBox="1"/>
          <p:nvPr/>
        </p:nvSpPr>
        <p:spPr>
          <a:xfrm>
            <a:off x="4846320" y="3749040"/>
            <a:ext cx="3566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Stores data, enforces permissions and system security.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6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Process Scheduling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6"/>
          <p:cNvSpPr txBox="1"/>
          <p:nvPr/>
        </p:nvSpPr>
        <p:spPr>
          <a:xfrm>
            <a:off x="8229600" y="470916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6"/>
          <p:cNvSpPr/>
          <p:nvPr/>
        </p:nvSpPr>
        <p:spPr>
          <a:xfrm>
            <a:off x="548640" y="1280160"/>
            <a:ext cx="1645920" cy="731520"/>
          </a:xfrm>
          <a:prstGeom prst="roundRect">
            <a:avLst>
              <a:gd fmla="val 12500" name="adj"/>
            </a:avLst>
          </a:prstGeom>
          <a:solidFill>
            <a:srgbClr val="0B1F3A"/>
          </a:solidFill>
          <a:ln cap="flat" cmpd="sng" w="12700">
            <a:solidFill>
              <a:srgbClr val="0B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6"/>
          <p:cNvSpPr txBox="1"/>
          <p:nvPr/>
        </p:nvSpPr>
        <p:spPr>
          <a:xfrm>
            <a:off x="548640" y="1280160"/>
            <a:ext cx="16459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New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2468880" y="1280160"/>
            <a:ext cx="1645920" cy="731520"/>
          </a:xfrm>
          <a:prstGeom prst="roundRect">
            <a:avLst>
              <a:gd fmla="val 12500" name="adj"/>
            </a:avLst>
          </a:prstGeom>
          <a:solidFill>
            <a:srgbClr val="0B1F3A"/>
          </a:solidFill>
          <a:ln cap="flat" cmpd="sng" w="12700">
            <a:solidFill>
              <a:srgbClr val="0B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6"/>
          <p:cNvSpPr txBox="1"/>
          <p:nvPr/>
        </p:nvSpPr>
        <p:spPr>
          <a:xfrm>
            <a:off x="2468880" y="1280160"/>
            <a:ext cx="16459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Ready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4389120" y="1280160"/>
            <a:ext cx="1645920" cy="731520"/>
          </a:xfrm>
          <a:prstGeom prst="roundRect">
            <a:avLst>
              <a:gd fmla="val 12500" name="adj"/>
            </a:avLst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6"/>
          <p:cNvSpPr txBox="1"/>
          <p:nvPr/>
        </p:nvSpPr>
        <p:spPr>
          <a:xfrm>
            <a:off x="4389120" y="1280160"/>
            <a:ext cx="16459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Running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6583680" y="1280160"/>
            <a:ext cx="1645920" cy="731520"/>
          </a:xfrm>
          <a:prstGeom prst="roundRect">
            <a:avLst>
              <a:gd fmla="val 12500" name="adj"/>
            </a:avLst>
          </a:prstGeom>
          <a:solidFill>
            <a:srgbClr val="0B1F3A"/>
          </a:solidFill>
          <a:ln cap="flat" cmpd="sng" w="12700">
            <a:solidFill>
              <a:srgbClr val="0B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6"/>
          <p:cNvSpPr txBox="1"/>
          <p:nvPr/>
        </p:nvSpPr>
        <p:spPr>
          <a:xfrm>
            <a:off x="6583680" y="1280160"/>
            <a:ext cx="16459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Terminated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8" name="Google Shape;78;p6"/>
          <p:cNvCxnSpPr/>
          <p:nvPr/>
        </p:nvCxnSpPr>
        <p:spPr>
          <a:xfrm>
            <a:off x="2194560" y="1645920"/>
            <a:ext cx="274320" cy="0"/>
          </a:xfrm>
          <a:prstGeom prst="straightConnector1">
            <a:avLst/>
          </a:prstGeom>
          <a:noFill/>
          <a:ln cap="flat" cmpd="sng" w="19050">
            <a:solidFill>
              <a:srgbClr val="6B728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9" name="Google Shape;79;p6"/>
          <p:cNvCxnSpPr/>
          <p:nvPr/>
        </p:nvCxnSpPr>
        <p:spPr>
          <a:xfrm>
            <a:off x="4114800" y="1645920"/>
            <a:ext cx="274320" cy="0"/>
          </a:xfrm>
          <a:prstGeom prst="straightConnector1">
            <a:avLst/>
          </a:prstGeom>
          <a:noFill/>
          <a:ln cap="flat" cmpd="sng" w="19050">
            <a:solidFill>
              <a:srgbClr val="6B728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0" name="Google Shape;80;p6"/>
          <p:cNvCxnSpPr/>
          <p:nvPr/>
        </p:nvCxnSpPr>
        <p:spPr>
          <a:xfrm>
            <a:off x="6035040" y="1645920"/>
            <a:ext cx="548640" cy="0"/>
          </a:xfrm>
          <a:prstGeom prst="straightConnector1">
            <a:avLst/>
          </a:prstGeom>
          <a:noFill/>
          <a:ln cap="flat" cmpd="sng" w="19050">
            <a:solidFill>
              <a:srgbClr val="6B728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1" name="Google Shape;81;p6"/>
          <p:cNvSpPr/>
          <p:nvPr/>
        </p:nvSpPr>
        <p:spPr>
          <a:xfrm>
            <a:off x="2468880" y="2651760"/>
            <a:ext cx="1645920" cy="640080"/>
          </a:xfrm>
          <a:prstGeom prst="roundRect">
            <a:avLst>
              <a:gd fmla="val 14286" name="adj"/>
            </a:avLst>
          </a:prstGeom>
          <a:solidFill>
            <a:srgbClr val="6B7280"/>
          </a:solidFill>
          <a:ln cap="flat" cmpd="sng" w="12700">
            <a:solidFill>
              <a:srgbClr val="6B72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6"/>
          <p:cNvSpPr txBox="1"/>
          <p:nvPr/>
        </p:nvSpPr>
        <p:spPr>
          <a:xfrm>
            <a:off x="2468880" y="2651760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Waiting (I/O)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3" name="Google Shape;83;p6"/>
          <p:cNvCxnSpPr/>
          <p:nvPr/>
        </p:nvCxnSpPr>
        <p:spPr>
          <a:xfrm flipH="1">
            <a:off x="3657600" y="2011680"/>
            <a:ext cx="1280160" cy="640080"/>
          </a:xfrm>
          <a:prstGeom prst="straightConnector1">
            <a:avLst/>
          </a:prstGeom>
          <a:noFill/>
          <a:ln cap="flat" cmpd="sng" w="19050">
            <a:solidFill>
              <a:srgbClr val="6B728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4" name="Google Shape;84;p6"/>
          <p:cNvCxnSpPr/>
          <p:nvPr/>
        </p:nvCxnSpPr>
        <p:spPr>
          <a:xfrm rot="10800000">
            <a:off x="3017520" y="2011680"/>
            <a:ext cx="274320" cy="640080"/>
          </a:xfrm>
          <a:prstGeom prst="straightConnector1">
            <a:avLst/>
          </a:prstGeom>
          <a:noFill/>
          <a:ln cap="flat" cmpd="sng" w="19050">
            <a:solidFill>
              <a:srgbClr val="6B728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5" name="Google Shape;85;p6"/>
          <p:cNvSpPr txBox="1"/>
          <p:nvPr/>
        </p:nvSpPr>
        <p:spPr>
          <a:xfrm>
            <a:off x="548640" y="3566160"/>
            <a:ext cx="80467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FCFS, SJF, Round Robin and Priority are common algorithms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Round Robin gives each process a fixed time slice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Context switch saves and restores process state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7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I/O Management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7"/>
          <p:cNvSpPr txBox="1"/>
          <p:nvPr/>
        </p:nvSpPr>
        <p:spPr>
          <a:xfrm>
            <a:off x="8229600" y="470916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7"/>
          <p:cNvSpPr/>
          <p:nvPr/>
        </p:nvSpPr>
        <p:spPr>
          <a:xfrm>
            <a:off x="548640" y="1280160"/>
            <a:ext cx="1828800" cy="822960"/>
          </a:xfrm>
          <a:prstGeom prst="roundRect">
            <a:avLst>
              <a:gd fmla="val 11111" name="adj"/>
            </a:avLst>
          </a:prstGeom>
          <a:solidFill>
            <a:srgbClr val="0B1F3A"/>
          </a:solidFill>
          <a:ln cap="flat" cmpd="sng" w="12700">
            <a:solidFill>
              <a:srgbClr val="0B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7"/>
          <p:cNvSpPr txBox="1"/>
          <p:nvPr/>
        </p:nvSpPr>
        <p:spPr>
          <a:xfrm>
            <a:off x="548640" y="1280160"/>
            <a:ext cx="1828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Application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" name="Google Shape;95;p7"/>
          <p:cNvCxnSpPr/>
          <p:nvPr/>
        </p:nvCxnSpPr>
        <p:spPr>
          <a:xfrm>
            <a:off x="2377440" y="1691640"/>
            <a:ext cx="274320" cy="0"/>
          </a:xfrm>
          <a:prstGeom prst="straightConnector1">
            <a:avLst/>
          </a:prstGeom>
          <a:noFill/>
          <a:ln cap="flat" cmpd="sng" w="19050">
            <a:solidFill>
              <a:srgbClr val="6B728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6" name="Google Shape;96;p7"/>
          <p:cNvSpPr/>
          <p:nvPr/>
        </p:nvSpPr>
        <p:spPr>
          <a:xfrm>
            <a:off x="2651760" y="1280160"/>
            <a:ext cx="1828800" cy="822960"/>
          </a:xfrm>
          <a:prstGeom prst="roundRect">
            <a:avLst>
              <a:gd fmla="val 11111" name="adj"/>
            </a:avLst>
          </a:prstGeom>
          <a:solidFill>
            <a:srgbClr val="0B1F3A"/>
          </a:solidFill>
          <a:ln cap="flat" cmpd="sng" w="12700">
            <a:solidFill>
              <a:srgbClr val="0B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7"/>
          <p:cNvSpPr txBox="1"/>
          <p:nvPr/>
        </p:nvSpPr>
        <p:spPr>
          <a:xfrm>
            <a:off x="2651760" y="1280160"/>
            <a:ext cx="1828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System call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8" name="Google Shape;98;p7"/>
          <p:cNvCxnSpPr/>
          <p:nvPr/>
        </p:nvCxnSpPr>
        <p:spPr>
          <a:xfrm>
            <a:off x="4480560" y="1691640"/>
            <a:ext cx="274320" cy="0"/>
          </a:xfrm>
          <a:prstGeom prst="straightConnector1">
            <a:avLst/>
          </a:prstGeom>
          <a:noFill/>
          <a:ln cap="flat" cmpd="sng" w="19050">
            <a:solidFill>
              <a:srgbClr val="6B728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9" name="Google Shape;99;p7"/>
          <p:cNvSpPr/>
          <p:nvPr/>
        </p:nvSpPr>
        <p:spPr>
          <a:xfrm>
            <a:off x="4754880" y="1280160"/>
            <a:ext cx="1828800" cy="822960"/>
          </a:xfrm>
          <a:prstGeom prst="roundRect">
            <a:avLst>
              <a:gd fmla="val 11111" name="adj"/>
            </a:avLst>
          </a:prstGeom>
          <a:solidFill>
            <a:srgbClr val="0B1F3A"/>
          </a:solidFill>
          <a:ln cap="flat" cmpd="sng" w="12700">
            <a:solidFill>
              <a:srgbClr val="0B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7"/>
          <p:cNvSpPr txBox="1"/>
          <p:nvPr/>
        </p:nvSpPr>
        <p:spPr>
          <a:xfrm>
            <a:off x="4754880" y="1280160"/>
            <a:ext cx="1828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Device driver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1" name="Google Shape;101;p7"/>
          <p:cNvCxnSpPr/>
          <p:nvPr/>
        </p:nvCxnSpPr>
        <p:spPr>
          <a:xfrm>
            <a:off x="6583680" y="1691640"/>
            <a:ext cx="274320" cy="0"/>
          </a:xfrm>
          <a:prstGeom prst="straightConnector1">
            <a:avLst/>
          </a:prstGeom>
          <a:noFill/>
          <a:ln cap="flat" cmpd="sng" w="19050">
            <a:solidFill>
              <a:srgbClr val="6B728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2" name="Google Shape;102;p7"/>
          <p:cNvSpPr/>
          <p:nvPr/>
        </p:nvSpPr>
        <p:spPr>
          <a:xfrm>
            <a:off x="6858000" y="1280160"/>
            <a:ext cx="1828800" cy="822960"/>
          </a:xfrm>
          <a:prstGeom prst="roundRect">
            <a:avLst>
              <a:gd fmla="val 11111" name="adj"/>
            </a:avLst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7"/>
          <p:cNvSpPr txBox="1"/>
          <p:nvPr/>
        </p:nvSpPr>
        <p:spPr>
          <a:xfrm>
            <a:off x="6858000" y="1280160"/>
            <a:ext cx="1828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Hardware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548640" y="2560320"/>
            <a:ext cx="2560320" cy="1920240"/>
          </a:xfrm>
          <a:prstGeom prst="roundRect">
            <a:avLst>
              <a:gd fmla="val 4762" name="adj"/>
            </a:avLst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731520" y="2743200"/>
            <a:ext cx="457200" cy="457200"/>
          </a:xfrm>
          <a:prstGeom prst="ellipse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7"/>
          <p:cNvSpPr txBox="1"/>
          <p:nvPr/>
        </p:nvSpPr>
        <p:spPr>
          <a:xfrm>
            <a:off x="731520" y="2743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7"/>
          <p:cNvSpPr txBox="1"/>
          <p:nvPr/>
        </p:nvSpPr>
        <p:spPr>
          <a:xfrm>
            <a:off x="1325880" y="2743200"/>
            <a:ext cx="1600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Drivers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 txBox="1"/>
          <p:nvPr/>
        </p:nvSpPr>
        <p:spPr>
          <a:xfrm>
            <a:off x="731520" y="3337560"/>
            <a:ext cx="21945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Hide hardware details behind a common interface.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3291840" y="2560320"/>
            <a:ext cx="2560320" cy="1920240"/>
          </a:xfrm>
          <a:prstGeom prst="roundRect">
            <a:avLst>
              <a:gd fmla="val 4762" name="adj"/>
            </a:avLst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3474720" y="2743200"/>
            <a:ext cx="457200" cy="457200"/>
          </a:xfrm>
          <a:prstGeom prst="ellipse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7"/>
          <p:cNvSpPr txBox="1"/>
          <p:nvPr/>
        </p:nvSpPr>
        <p:spPr>
          <a:xfrm>
            <a:off x="3474720" y="2743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 txBox="1"/>
          <p:nvPr/>
        </p:nvSpPr>
        <p:spPr>
          <a:xfrm>
            <a:off x="4069080" y="2743200"/>
            <a:ext cx="1600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Buffering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 txBox="1"/>
          <p:nvPr/>
        </p:nvSpPr>
        <p:spPr>
          <a:xfrm>
            <a:off x="3474720" y="3337560"/>
            <a:ext cx="21945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Cache and spool data to smooth speed gaps.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6035040" y="2560320"/>
            <a:ext cx="2560320" cy="1920240"/>
          </a:xfrm>
          <a:prstGeom prst="roundRect">
            <a:avLst>
              <a:gd fmla="val 4762" name="adj"/>
            </a:avLst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6217920" y="2743200"/>
            <a:ext cx="457200" cy="457200"/>
          </a:xfrm>
          <a:prstGeom prst="ellipse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7"/>
          <p:cNvSpPr txBox="1"/>
          <p:nvPr/>
        </p:nvSpPr>
        <p:spPr>
          <a:xfrm>
            <a:off x="6217920" y="2743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 txBox="1"/>
          <p:nvPr/>
        </p:nvSpPr>
        <p:spPr>
          <a:xfrm>
            <a:off x="6812280" y="2743200"/>
            <a:ext cx="1600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Interrupts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 txBox="1"/>
          <p:nvPr/>
        </p:nvSpPr>
        <p:spPr>
          <a:xfrm>
            <a:off x="6217920" y="3337560"/>
            <a:ext cx="21945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Devices signal the CPU when work is done.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How the OS Components Interact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8"/>
          <p:cNvSpPr txBox="1"/>
          <p:nvPr/>
        </p:nvSpPr>
        <p:spPr>
          <a:xfrm>
            <a:off x="8229600" y="470916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8"/>
          <p:cNvSpPr/>
          <p:nvPr/>
        </p:nvSpPr>
        <p:spPr>
          <a:xfrm>
            <a:off x="3291840" y="1188720"/>
            <a:ext cx="2560320" cy="731520"/>
          </a:xfrm>
          <a:prstGeom prst="roundRect">
            <a:avLst>
              <a:gd fmla="val 12500" name="adj"/>
            </a:avLst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8"/>
          <p:cNvSpPr txBox="1"/>
          <p:nvPr/>
        </p:nvSpPr>
        <p:spPr>
          <a:xfrm>
            <a:off x="3291840" y="1188720"/>
            <a:ext cx="2560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User Applications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8"/>
          <p:cNvSpPr/>
          <p:nvPr/>
        </p:nvSpPr>
        <p:spPr>
          <a:xfrm>
            <a:off x="3291840" y="2286000"/>
            <a:ext cx="2560320" cy="731520"/>
          </a:xfrm>
          <a:prstGeom prst="roundRect">
            <a:avLst>
              <a:gd fmla="val 12500" name="adj"/>
            </a:avLst>
          </a:prstGeom>
          <a:solidFill>
            <a:srgbClr val="0B1F3A"/>
          </a:solidFill>
          <a:ln cap="flat" cmpd="sng" w="12700">
            <a:solidFill>
              <a:srgbClr val="0B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8"/>
          <p:cNvSpPr txBox="1"/>
          <p:nvPr/>
        </p:nvSpPr>
        <p:spPr>
          <a:xfrm>
            <a:off x="3291840" y="2286000"/>
            <a:ext cx="2560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System Call Interface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548640" y="3566160"/>
            <a:ext cx="2377440" cy="822960"/>
          </a:xfrm>
          <a:prstGeom prst="roundRect">
            <a:avLst>
              <a:gd fmla="val 11111" name="adj"/>
            </a:avLst>
          </a:prstGeom>
          <a:solidFill>
            <a:srgbClr val="0F766E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8"/>
          <p:cNvSpPr txBox="1"/>
          <p:nvPr/>
        </p:nvSpPr>
        <p:spPr>
          <a:xfrm>
            <a:off x="548640" y="3566160"/>
            <a:ext cx="23774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Process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Scheduler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3383280" y="3566160"/>
            <a:ext cx="2377440" cy="822960"/>
          </a:xfrm>
          <a:prstGeom prst="roundRect">
            <a:avLst>
              <a:gd fmla="val 11111" name="adj"/>
            </a:avLst>
          </a:prstGeom>
          <a:solidFill>
            <a:srgbClr val="0F766E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8"/>
          <p:cNvSpPr txBox="1"/>
          <p:nvPr/>
        </p:nvSpPr>
        <p:spPr>
          <a:xfrm>
            <a:off x="3383280" y="3566160"/>
            <a:ext cx="23774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Memory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Manager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6217920" y="3566160"/>
            <a:ext cx="2377440" cy="822960"/>
          </a:xfrm>
          <a:prstGeom prst="roundRect">
            <a:avLst>
              <a:gd fmla="val 11111" name="adj"/>
            </a:avLst>
          </a:prstGeom>
          <a:solidFill>
            <a:srgbClr val="0F766E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8"/>
          <p:cNvSpPr txBox="1"/>
          <p:nvPr/>
        </p:nvSpPr>
        <p:spPr>
          <a:xfrm>
            <a:off x="6217920" y="3566160"/>
            <a:ext cx="23774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I/O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Subsystem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6" name="Google Shape;136;p8"/>
          <p:cNvCxnSpPr/>
          <p:nvPr/>
        </p:nvCxnSpPr>
        <p:spPr>
          <a:xfrm>
            <a:off x="4572000" y="1920240"/>
            <a:ext cx="0" cy="365760"/>
          </a:xfrm>
          <a:prstGeom prst="straightConnector1">
            <a:avLst/>
          </a:prstGeom>
          <a:noFill/>
          <a:ln cap="flat" cmpd="sng" w="19050">
            <a:solidFill>
              <a:srgbClr val="6B728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7" name="Google Shape;137;p8"/>
          <p:cNvCxnSpPr/>
          <p:nvPr/>
        </p:nvCxnSpPr>
        <p:spPr>
          <a:xfrm flipH="1">
            <a:off x="1737360" y="3017520"/>
            <a:ext cx="2194560" cy="548640"/>
          </a:xfrm>
          <a:prstGeom prst="straightConnector1">
            <a:avLst/>
          </a:prstGeom>
          <a:noFill/>
          <a:ln cap="flat" cmpd="sng" w="19050">
            <a:solidFill>
              <a:srgbClr val="6B728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8" name="Google Shape;138;p8"/>
          <p:cNvCxnSpPr/>
          <p:nvPr/>
        </p:nvCxnSpPr>
        <p:spPr>
          <a:xfrm>
            <a:off x="4572000" y="3017520"/>
            <a:ext cx="0" cy="548640"/>
          </a:xfrm>
          <a:prstGeom prst="straightConnector1">
            <a:avLst/>
          </a:prstGeom>
          <a:noFill/>
          <a:ln cap="flat" cmpd="sng" w="19050">
            <a:solidFill>
              <a:srgbClr val="6B728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9" name="Google Shape;139;p8"/>
          <p:cNvCxnSpPr/>
          <p:nvPr/>
        </p:nvCxnSpPr>
        <p:spPr>
          <a:xfrm>
            <a:off x="5212080" y="3017520"/>
            <a:ext cx="2194560" cy="548640"/>
          </a:xfrm>
          <a:prstGeom prst="straightConnector1">
            <a:avLst/>
          </a:prstGeom>
          <a:noFill/>
          <a:ln cap="flat" cmpd="sng" w="19050">
            <a:solidFill>
              <a:srgbClr val="6B728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0" name="Google Shape;140;p8"/>
          <p:cNvSpPr txBox="1"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System Call Examples for Each Function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9"/>
          <p:cNvSpPr txBox="1"/>
          <p:nvPr/>
        </p:nvSpPr>
        <p:spPr>
          <a:xfrm>
            <a:off x="8229600" y="470916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8" name="Google Shape;148;p9"/>
          <p:cNvGraphicFramePr/>
          <p:nvPr/>
        </p:nvGraphicFramePr>
        <p:xfrm>
          <a:off x="548640" y="11887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{F23594C5-DE9B-4600-BDFE-A22A94546CAA}</a:tableStyleId>
              </a:tblPr>
              <a:tblGrid>
                <a:gridCol w="2011675"/>
                <a:gridCol w="3200400"/>
                <a:gridCol w="2834650"/>
              </a:tblGrid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5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OS Function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5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System Calls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5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Purpose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F3A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Process control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fork(), exec(), wait(), exit()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Create, run, and end processes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Scheduling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nice(), sched_yield()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Adjust priority, give up the CPU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Memory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brk(), mmap(), munmap()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Allocate and release memory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I/O and files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open(), read(), write(), close()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Access files and devices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Protection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chmod(), chown()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Set permissions and ownership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A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0"/>
          <p:cNvSpPr/>
          <p:nvPr/>
        </p:nvSpPr>
        <p:spPr>
          <a:xfrm>
            <a:off x="3566160" y="640080"/>
            <a:ext cx="2011680" cy="2011680"/>
          </a:xfrm>
          <a:prstGeom prst="ellipse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0"/>
          <p:cNvSpPr txBox="1"/>
          <p:nvPr/>
        </p:nvSpPr>
        <p:spPr>
          <a:xfrm>
            <a:off x="3566160" y="640080"/>
            <a:ext cx="201168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Calibri"/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0"/>
          <p:cNvSpPr txBox="1"/>
          <p:nvPr/>
        </p:nvSpPr>
        <p:spPr>
          <a:xfrm>
            <a:off x="640080" y="2834640"/>
            <a:ext cx="7863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mbria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Thank You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0"/>
          <p:cNvSpPr txBox="1"/>
          <p:nvPr/>
        </p:nvSpPr>
        <p:spPr>
          <a:xfrm>
            <a:off x="640080" y="3703320"/>
            <a:ext cx="7863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Any questions?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1" title="56ae6725-6c3c-4b05-b03d-83a868cdd1cf.jf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